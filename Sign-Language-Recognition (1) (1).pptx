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  <p:sldId id="266" r:id="rId12"/>
    <p:sldId id="267" r:id="rId13"/>
  </p:sldIdLst>
  <p:sldSz cx="9144000" cy="5143500" type="screen16x9"/>
  <p:notesSz cx="5143500" cy="9144000"/>
  <p:embeddedFontLst>
    <p:embeddedFont>
      <p:font typeface="Open Sans Bold" pitchFamily="2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Unbounded Bold" pitchFamily="2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288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sv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 /><Relationship Id="rId7" Type="http://schemas.openxmlformats.org/officeDocument/2006/relationships/image" Target="../media/image15.sv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4.svg" /><Relationship Id="rId5" Type="http://schemas.openxmlformats.org/officeDocument/2006/relationships/image" Target="../media/image13.svg" /><Relationship Id="rId4" Type="http://schemas.openxmlformats.org/officeDocument/2006/relationships/image" Target="../media/image12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3296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Sign Language Recognition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428205"/>
            <a:ext cx="4722763" cy="138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41-Class Deep Learning Project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MobileNetV2 • Transfer Learning • Fine-Tuning • OpenCV • MediaPipe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 classification with a focus on real-world webcam challenges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Done by: Rashna, Francis, Sudeep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4" y="365447"/>
            <a:ext cx="3309417" cy="44126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22151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This Matters</a:t>
            </a:r>
            <a:endParaRPr lang="en-US" sz="2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947291"/>
            <a:ext cx="4722763" cy="86781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6139" y="1081162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Visual Language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116139" y="1328514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 language communicates meaning through hand shapes, finger positions, and gestures — a rich, complex visual system.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916013"/>
            <a:ext cx="4722763" cy="8678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6139" y="2049884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Computer Vision Bridge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116139" y="2297237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Computer vision can bridge the gap between visual signs and machine understanding, enabling new accessibility tools.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884736"/>
            <a:ext cx="4722763" cy="86781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16139" y="3018606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41-Class Scope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116139" y="3265959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tackles 41 static sign-language classes with real-world robustness in mind — digits, letters, and common phrases.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853458"/>
            <a:ext cx="4722763" cy="86781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116139" y="3987329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Core Challenge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4116139" y="4234681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Moving from controlled lab accuracy to practical webcam performance — the gap between benchmark and deployment.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443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10941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95746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41 Classes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263973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sign-language categories spanning digits, letters, and common words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810941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195746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18,450 Images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dataset with exactly 450 images per class for fair training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315240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MobileNetV2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458914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 learning + fine-tuning on ImageNet pretrained weights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3152403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Real-Time Pipeline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3458914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OpenCV + MediaPipe for webcam inference and hand detection exploration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0" y="377205"/>
            <a:ext cx="3291706" cy="4389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16198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925119" y="1113458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18,450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3925119" y="1734964"/>
            <a:ext cx="22782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Images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25119" y="2029271"/>
            <a:ext cx="22782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 classes × 450 images each, perfectly balanced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69621" y="1113458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41</a:t>
            </a:r>
            <a:endParaRPr lang="en-US" sz="3550" dirty="0"/>
          </a:p>
        </p:txBody>
      </p:sp>
      <p:sp>
        <p:nvSpPr>
          <p:cNvPr id="9" name="Text 6"/>
          <p:cNvSpPr/>
          <p:nvPr/>
        </p:nvSpPr>
        <p:spPr>
          <a:xfrm>
            <a:off x="6369621" y="1734964"/>
            <a:ext cx="22782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Classes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69621" y="2029271"/>
            <a:ext cx="22782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Digits, letters, and phrases: HELLO, YES, NO, THANK YOU, I LOVE YOU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47370" y="2796555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224px</a:t>
            </a:r>
            <a:endParaRPr lang="en-US" sz="3550" dirty="0"/>
          </a:p>
        </p:txBody>
      </p:sp>
      <p:sp>
        <p:nvSpPr>
          <p:cNvPr id="12" name="Text 9"/>
          <p:cNvSpPr/>
          <p:nvPr/>
        </p:nvSpPr>
        <p:spPr>
          <a:xfrm>
            <a:off x="5147370" y="3418061"/>
            <a:ext cx="22782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Input Size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147370" y="3712369"/>
            <a:ext cx="22782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224×224 RGB images — standard for MobileNetV2 backbone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925119" y="4294659"/>
            <a:ext cx="4722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class was validated before training to ensure consistent image quality across the full dataset.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Split &amp; Training Setup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Split Strategy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509564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Stratified split (random state: 42) maintains class proportions across all sets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class: </a:t>
            </a: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360 training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45 validation, 45 test images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Batch size: </a:t>
            </a: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32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stable gradient updates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design ensures no class is over- or under-represented at any stage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Deep Learning Pipeline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57" y="831980"/>
            <a:ext cx="7272486" cy="3824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95812" y="2653642"/>
            <a:ext cx="168510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Input 224×224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85513" y="2653642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Augmentation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45193" y="2653642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Backbone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69597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two-stage training strategy — first warming up the classification head, then fine-tuning deeper MobileNetV2 layers with a reduced learning rate — unlocks the full representational power of the pretrained backbone for sign recognition.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4068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Results: </a:t>
            </a:r>
            <a:r>
              <a:rPr lang="en-US" sz="2750" b="1" dirty="0">
                <a:solidFill>
                  <a:srgbClr val="26A68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91.49% Accuracy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539255"/>
            <a:ext cx="4722763" cy="2096839"/>
          </a:xfrm>
          <a:prstGeom prst="roundRect">
            <a:avLst>
              <a:gd name="adj" fmla="val 284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81" y="1544017"/>
            <a:ext cx="2356619" cy="1270471"/>
          </a:xfrm>
          <a:custGeom>
            <a:avLst/>
            <a:gdLst/>
            <a:ahLst/>
            <a:cxnLst/>
            <a:rect l="l" t="t" r="r" b="b"/>
            <a:pathLst>
              <a:path w="2356619" h="1270471">
                <a:moveTo>
                  <a:pt x="49619" y="0"/>
                </a:moveTo>
                <a:lnTo>
                  <a:pt x="2356619" y="0"/>
                </a:lnTo>
                <a:lnTo>
                  <a:pt x="2356619" y="1270471"/>
                </a:lnTo>
                <a:lnTo>
                  <a:pt x="0" y="1270471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D6F5EE"/>
          </a:solidFill>
          <a:ln/>
        </p:spPr>
      </p:sp>
      <p:sp>
        <p:nvSpPr>
          <p:cNvPr id="7" name="Text 4"/>
          <p:cNvSpPr/>
          <p:nvPr/>
        </p:nvSpPr>
        <p:spPr>
          <a:xfrm>
            <a:off x="642640" y="1685776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 Accuracy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1992288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91.49%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stratified test set — 1,845 held-out images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57500" y="1544017"/>
            <a:ext cx="2356619" cy="1270471"/>
          </a:xfrm>
          <a:custGeom>
            <a:avLst/>
            <a:gdLst/>
            <a:ahLst/>
            <a:cxnLst/>
            <a:rect l="l" t="t" r="r" b="b"/>
            <a:pathLst>
              <a:path w="2356619" h="1270471">
                <a:moveTo>
                  <a:pt x="0" y="0"/>
                </a:moveTo>
                <a:lnTo>
                  <a:pt x="2307000" y="0"/>
                </a:lnTo>
                <a:arcTo wR="49619" hR="49619" stAng="16200000" swAng="5400000"/>
                <a:lnTo>
                  <a:pt x="2356619" y="1270471"/>
                </a:lnTo>
                <a:lnTo>
                  <a:pt x="0" y="1270471"/>
                </a:lnTo>
                <a:lnTo>
                  <a:pt x="0" y="0"/>
                </a:lnTo>
                <a:close/>
              </a:path>
            </a:pathLst>
          </a:custGeom>
          <a:solidFill>
            <a:srgbClr val="D6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1544017"/>
            <a:ext cx="19050" cy="1270471"/>
          </a:xfrm>
          <a:prstGeom prst="roundRect">
            <a:avLst>
              <a:gd name="adj" fmla="val 50000"/>
            </a:avLst>
          </a:prstGeom>
          <a:solidFill>
            <a:srgbClr val="BCDBD4"/>
          </a:solidFill>
          <a:ln/>
        </p:spPr>
      </p:sp>
      <p:sp>
        <p:nvSpPr>
          <p:cNvPr id="11" name="Text 8"/>
          <p:cNvSpPr/>
          <p:nvPr/>
        </p:nvSpPr>
        <p:spPr>
          <a:xfrm>
            <a:off x="2999259" y="1685776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Macro F1-Score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99259" y="1992288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0.9148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balanced performance across all 41 classes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0881" y="2814489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0" y="0"/>
                </a:moveTo>
                <a:lnTo>
                  <a:pt x="4713238" y="0"/>
                </a:lnTo>
                <a:lnTo>
                  <a:pt x="4713238" y="767225"/>
                </a:lnTo>
                <a:arcTo wR="49619" hR="49619" stAng="0" swAng="5400000"/>
                <a:lnTo>
                  <a:pt x="49619" y="816843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D6F5EE"/>
          </a:solidFill>
          <a:ln/>
        </p:spPr>
      </p:sp>
      <p:sp>
        <p:nvSpPr>
          <p:cNvPr id="14" name="Shape 11"/>
          <p:cNvSpPr/>
          <p:nvPr/>
        </p:nvSpPr>
        <p:spPr>
          <a:xfrm>
            <a:off x="500881" y="2814489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BCDBD4"/>
          </a:solidFill>
          <a:ln/>
        </p:spPr>
      </p:sp>
      <p:sp>
        <p:nvSpPr>
          <p:cNvPr id="15" name="Text 12"/>
          <p:cNvSpPr/>
          <p:nvPr/>
        </p:nvSpPr>
        <p:spPr>
          <a:xfrm>
            <a:off x="642640" y="295624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Weighted F1-Score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2640" y="3262759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0.9148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confirms strong, consistent classification quality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6119" y="3795564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matching macro and weighted F1-scores reflect the perfectly balanced dataset — the model performs well not just on average, but </a:t>
            </a: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across every individual sign class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Transfer learning proves highly effective for this domain.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555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Tools &amp; Real-Time Architecture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63600"/>
            <a:ext cx="266335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Training 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351359"/>
            <a:ext cx="2663354" cy="1516707"/>
          </a:xfrm>
          <a:prstGeom prst="rect">
            <a:avLst/>
          </a:prstGeom>
          <a:noFill/>
          <a:ln/>
        </p:spPr>
        <p:txBody>
          <a:bodyPr wrap="square" lIns="0" tIns="47846" rIns="0" bIns="0" rtlCol="0" anchor="t">
            <a:normAutofit/>
          </a:bodyPr>
          <a:lstStyle/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TensorFlow / Keras</a:t>
            </a: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model definition, training loops, callbacks</a:t>
            </a:r>
            <a:endParaRPr lang="en-US" sz="900" dirty="0"/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MobileNetV2</a:t>
            </a: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pretrained backbone with ImageNet weights</a:t>
            </a:r>
            <a:endParaRPr lang="en-US" sz="900" dirty="0"/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augmentation pipeline integrated into training</a:t>
            </a:r>
            <a:endParaRPr lang="en-US" sz="900" dirty="0"/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 learning + staged fine-tuning workflow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6119" y="3011388"/>
            <a:ext cx="2663354" cy="14288"/>
          </a:xfrm>
          <a:prstGeom prst="roundRect">
            <a:avLst>
              <a:gd name="adj" fmla="val 49998"/>
            </a:avLst>
          </a:prstGeom>
          <a:solidFill>
            <a:srgbClr val="333F7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3168997"/>
            <a:ext cx="266335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Distinction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96119" y="3469332"/>
            <a:ext cx="2663354" cy="1123057"/>
          </a:xfrm>
          <a:prstGeom prst="roundRect">
            <a:avLst>
              <a:gd name="adj" fmla="val 4473"/>
            </a:avLst>
          </a:prstGeom>
          <a:solidFill>
            <a:srgbClr val="D6F5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02" y="3628727"/>
            <a:ext cx="149498" cy="1195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4783" y="3589958"/>
            <a:ext cx="2155106" cy="881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MediaPipe was </a:t>
            </a:r>
            <a:r>
              <a:rPr lang="en-US" sz="9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NOT</a:t>
            </a: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used to train the 91.49% classifier — it is explored separately as a preprocessing and deployment component for real-time inference.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56087" y="1557412"/>
            <a:ext cx="519648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Target Real-Time Pipeline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087" y="1857747"/>
            <a:ext cx="5196483" cy="22408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05769" y="3673632"/>
            <a:ext cx="1439159" cy="14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CNN Sign Classifier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805769" y="3154916"/>
            <a:ext cx="1723814" cy="14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MediaPipe Landmarker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805769" y="2641440"/>
            <a:ext cx="1233916" cy="14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OpenCV Process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805769" y="2122724"/>
            <a:ext cx="1178900" cy="14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Webcam Frame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601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Insights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85044"/>
            <a:ext cx="332259" cy="33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73051"/>
            <a:ext cx="2613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Transfer Learning Power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96119" y="1955453"/>
            <a:ext cx="261342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MobileNetV2's pre-trained weights were crucial, enabling high accuracy on a new, specific domain with less data and training time.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5289" y="1185044"/>
            <a:ext cx="332259" cy="3322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65289" y="1673051"/>
            <a:ext cx="2613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Balanced Data is Key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265289" y="1955453"/>
            <a:ext cx="261342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perfectly balanced dataset (450 images/class) ensured fair model evaluation and consistent performance across all 41 sign classes.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4460" y="1185044"/>
            <a:ext cx="332259" cy="3322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34460" y="1673051"/>
            <a:ext cx="2613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Lab-to-Webcam Gap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034460" y="1955453"/>
            <a:ext cx="261342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Transitioning from controlled dataset accuracy to real-time webcam inference revealed critical challenges in variability and robustness.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28504"/>
            <a:ext cx="332259" cy="3322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16511"/>
            <a:ext cx="2613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Hybrid Tool Approach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96119" y="3798912"/>
            <a:ext cx="261342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Combining MediaPipe for hand detection with our CNN classifier offers a more robust, deployable solution for live video streams.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5289" y="3028504"/>
            <a:ext cx="332259" cy="3322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65289" y="3516511"/>
            <a:ext cx="2613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Subtle Distinctions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3265289" y="3798912"/>
            <a:ext cx="261342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Highly similar sign pairs like M, N, S, T require meticulous feature extraction and calibration to prevent overconfident misclassifications.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7031"/>
            <a:ext cx="2649364" cy="2649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63677" y="540767"/>
            <a:ext cx="518889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Challenge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3463677" y="1073200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69085" y="1117327"/>
            <a:ext cx="478348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41 Distinct Classes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869085" y="1434405"/>
            <a:ext cx="478348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Classify 41 different static hand signs accurately from a single image frame.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63677" y="1863179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69085" y="1907307"/>
            <a:ext cx="478348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Visually Similar Signs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869085" y="2224385"/>
            <a:ext cx="478348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Distinguish near-identical classes where tiny finger differences matter — M, N, S, and T are easily confused.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63677" y="2849091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69085" y="2893219"/>
            <a:ext cx="478348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Real-World Variability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869085" y="3210297"/>
            <a:ext cx="478348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 changing backgrounds, lighting conditions, and hand positions in live webcam feeds.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63677" y="3835003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69085" y="3879131"/>
            <a:ext cx="478348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Overconfident Predictions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869085" y="4196209"/>
            <a:ext cx="478348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Avoid high-certainty wrong predictions — calibration matters as much as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84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Path Forward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581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&amp; Robustness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69033"/>
            <a:ext cx="3902943" cy="1736378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 real webcam data with diverse backgrounds, lighting, and distances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targeted samples for confusing pairs: M/N/S/T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MediaPipe to consistently localize and crop hands before CNN inference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Introduce an Unknown/Uncertain class or confidence threshold to suppress low-quality predictions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30581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Architecture &amp; Modeling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669033"/>
            <a:ext cx="3902943" cy="196319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Experiment with </a:t>
            </a: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EfficientNet, MobileNetV3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or custom CNN architectures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temporal models — </a:t>
            </a: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LSTM, GRU, or Transformers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for dynamic gesture recognition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 class-wise error analysis to identify systematic failure modes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confidence calibration techniques (temperature scaling, Platt scaling)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841254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D6F5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042023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4018434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gap between 91.49% lab accuracy and real-world webcam performance is not a failure — it is the clearest signal of where the next round of improvements should focus.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78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110481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7440" y="1155799"/>
            <a:ext cx="77004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balanced 41-class dataset with stratified evaluation provides a solid foundation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1699171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7440" y="1744489"/>
            <a:ext cx="77004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MobileNetV2 transfer learning + fine-tuning achieves 91.49% test accuracy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6119" y="2287860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7440" y="2333179"/>
            <a:ext cx="77004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MediaPipe and OpenCV enable the bridge from research to real-time deployment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6119" y="2876550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7440" y="2921868"/>
            <a:ext cx="77004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architecture and feature representation both matter—neither alone is enough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6119" y="3465240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7440" y="3510558"/>
            <a:ext cx="77004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hybrid MediaPipe + Deep Learning pipeline is the strongest path to real-world robustness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6119" y="4053929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7440" y="4099247"/>
            <a:ext cx="77004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gap between lab and webcam performance is a feature, not a bug—it drives meaningful improvements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119" y="4522366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Done by: Rashna, Francis, Sudeep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</Words>
  <Application>Microsoft Office PowerPoint</Application>
  <PresentationFormat>On-screen Show (16:9)</PresentationFormat>
  <Paragraphs>118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Sudeep Hebbar</cp:lastModifiedBy>
  <cp:revision>3</cp:revision>
  <dcterms:created xsi:type="dcterms:W3CDTF">2026-08-18T04:13:01Z</dcterms:created>
  <dcterms:modified xsi:type="dcterms:W3CDTF">2026-08-18T06:01:52Z</dcterms:modified>
</cp:coreProperties>
</file>